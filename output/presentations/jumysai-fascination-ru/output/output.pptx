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11b830c16b4fc1" /><Relationship Type="http://schemas.openxmlformats.org/officeDocument/2006/relationships/extended-properties" Target="/docProps/app.xml" Id="R3d221d971a34428c" /><Relationship Type="http://schemas.openxmlformats.org/officeDocument/2006/relationships/officeDocument" Target="/ppt/presentation.xml" Id="Rfcf1d765e569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3ce75432f24b69"/>
  </p:sldMasterIdLst>
  <p:notesMasterIdLst>
    <p:notesMasterId xmlns:r="http://schemas.openxmlformats.org/officeDocument/2006/relationships" r:id="Rf217e74ca51f438b"/>
  </p:notesMasterIdLst>
  <p:sldIdLst>
    <p:sldId xmlns:r="http://schemas.openxmlformats.org/officeDocument/2006/relationships" id="256" r:id="R8e3cb747080a4753"/>
    <p:sldId xmlns:r="http://schemas.openxmlformats.org/officeDocument/2006/relationships" id="257" r:id="R8d8f51534f164430"/>
    <p:sldId xmlns:r="http://schemas.openxmlformats.org/officeDocument/2006/relationships" id="258" r:id="Re74ef98415094aa2"/>
    <p:sldId xmlns:r="http://schemas.openxmlformats.org/officeDocument/2006/relationships" id="259" r:id="Rd14a0a7d3b3c4359"/>
    <p:sldId xmlns:r="http://schemas.openxmlformats.org/officeDocument/2006/relationships" id="260" r:id="R5bcf58554672496d"/>
    <p:sldId xmlns:r="http://schemas.openxmlformats.org/officeDocument/2006/relationships" id="261" r:id="R0e919836bbd14949"/>
    <p:sldId xmlns:r="http://schemas.openxmlformats.org/officeDocument/2006/relationships" id="262" r:id="R891cda0428e14ab1"/>
    <p:sldId xmlns:r="http://schemas.openxmlformats.org/officeDocument/2006/relationships" id="263" r:id="Rd9dd8bc12f224d92"/>
    <p:sldId xmlns:r="http://schemas.openxmlformats.org/officeDocument/2006/relationships" id="264" r:id="Ra9ed6e41c2184aa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ce75432f24b69" /><Relationship Type="http://schemas.openxmlformats.org/officeDocument/2006/relationships/theme" Target="/ppt/theme/theme1.xml" Id="Rfc7c2d72047b4789" /><Relationship Type="http://schemas.openxmlformats.org/officeDocument/2006/relationships/notesMaster" Target="/ppt/notesMasters/notesMaster1.xml" Id="Rf217e74ca51f438b" /><Relationship Type="http://schemas.openxmlformats.org/officeDocument/2006/relationships/presProps" Target="/ppt/presProps.xml" Id="R1787bf9f1cf34706" /><Relationship Type="http://schemas.openxmlformats.org/officeDocument/2006/relationships/viewProps" Target="/ppt/viewProps.xml" Id="Rabd49c7fbcc84f1d" /><Relationship Type="http://schemas.openxmlformats.org/officeDocument/2006/relationships/tableStyles" Target="/ppt/tableStyles.xml" Id="R4f1e6d5a5951455a" /><Relationship Type="http://schemas.openxmlformats.org/officeDocument/2006/relationships/slide" Target="/ppt/slides/slide1.xml" Id="R8e3cb747080a4753" /><Relationship Type="http://schemas.openxmlformats.org/officeDocument/2006/relationships/slide" Target="/ppt/slides/slide2.xml" Id="R8d8f51534f164430" /><Relationship Type="http://schemas.openxmlformats.org/officeDocument/2006/relationships/slide" Target="/ppt/slides/slide3.xml" Id="Re74ef98415094aa2" /><Relationship Type="http://schemas.openxmlformats.org/officeDocument/2006/relationships/slide" Target="/ppt/slides/slide4.xml" Id="Rd14a0a7d3b3c4359" /><Relationship Type="http://schemas.openxmlformats.org/officeDocument/2006/relationships/slide" Target="/ppt/slides/slide5.xml" Id="R5bcf58554672496d" /><Relationship Type="http://schemas.openxmlformats.org/officeDocument/2006/relationships/slide" Target="/ppt/slides/slide6.xml" Id="R0e919836bbd14949" /><Relationship Type="http://schemas.openxmlformats.org/officeDocument/2006/relationships/slide" Target="/ppt/slides/slide7.xml" Id="R891cda0428e14ab1" /><Relationship Type="http://schemas.openxmlformats.org/officeDocument/2006/relationships/slide" Target="/ppt/slides/slide8.xml" Id="Rd9dd8bc12f224d92" /><Relationship Type="http://schemas.openxmlformats.org/officeDocument/2006/relationships/slide" Target="/ppt/slides/slide9.xml" Id="Ra9ed6e41c218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eab506a1fa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ae9a4a70c54b66" /><Relationship Type="http://schemas.openxmlformats.org/officeDocument/2006/relationships/notesMaster" Target="/ppt/notesMasters/notesMaster1.xml" Id="R5b264ff62cf343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b5920a80c54a94" /><Relationship Type="http://schemas.openxmlformats.org/officeDocument/2006/relationships/notesMaster" Target="/ppt/notesMasters/notesMaster1.xml" Id="R2e4b193fa505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db8effcb624f2e" /><Relationship Type="http://schemas.openxmlformats.org/officeDocument/2006/relationships/notesMaster" Target="/ppt/notesMasters/notesMaster1.xml" Id="R06dd70b1171b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a1f2b1a6684714" /><Relationship Type="http://schemas.openxmlformats.org/officeDocument/2006/relationships/notesMaster" Target="/ppt/notesMasters/notesMaster1.xml" Id="Rc9806c8db9984e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c81dd02a54473" /><Relationship Type="http://schemas.openxmlformats.org/officeDocument/2006/relationships/notesMaster" Target="/ppt/notesMasters/notesMaster1.xml" Id="R9f6923d7858f49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2be4c262c34f6a" /><Relationship Type="http://schemas.openxmlformats.org/officeDocument/2006/relationships/notesMaster" Target="/ppt/notesMasters/notesMaster1.xml" Id="R9f00a75280c240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503cd4b84b4e0f" /><Relationship Type="http://schemas.openxmlformats.org/officeDocument/2006/relationships/notesMaster" Target="/ppt/notesMasters/notesMaster1.xml" Id="Rfeb9e388085745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2ca8a5976b47c3" /><Relationship Type="http://schemas.openxmlformats.org/officeDocument/2006/relationships/notesMaster" Target="/ppt/notesMasters/notesMaster1.xml" Id="R738da406d13c46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923760e64449e1" /><Relationship Type="http://schemas.openxmlformats.org/officeDocument/2006/relationships/notesMaster" Target="/ppt/notesMasters/notesMaster1.xml" Id="Re6b99e31ebe348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cabcae93041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d9437d98e8410f" /><Relationship Type="http://schemas.openxmlformats.org/officeDocument/2006/relationships/slideLayout" Target="/ppt/slideLayouts/slideLayout2.xml" Id="Rbdeacc1bdd774b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acc1bdd774b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f3581fa7a74b79" /><Relationship Type="http://schemas.openxmlformats.org/officeDocument/2006/relationships/image" Target="/ppt/media/image.png" Id="R8f943b52eae5495f" /><Relationship Type="http://schemas.openxmlformats.org/officeDocument/2006/relationships/notesSlide" Target="/ppt/notesSlides/notesSlide1.xml" Id="R3a22454800ad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34610ec8cf4a25" /><Relationship Type="http://schemas.openxmlformats.org/officeDocument/2006/relationships/image" Target="/ppt/media/image2.png" Id="R419f4857e08b458b" /><Relationship Type="http://schemas.openxmlformats.org/officeDocument/2006/relationships/image" Target="/ppt/media/image3.png" Id="Rf7d10a8c989d441b" /><Relationship Type="http://schemas.openxmlformats.org/officeDocument/2006/relationships/notesSlide" Target="/ppt/notesSlides/notesSlide2.xml" Id="R0f25608d66b14b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bced578e794f12" /><Relationship Type="http://schemas.openxmlformats.org/officeDocument/2006/relationships/notesSlide" Target="/ppt/notesSlides/notesSlide3.xml" Id="R1e8a9e594bcd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e853dc1a304b2a" /><Relationship Type="http://schemas.openxmlformats.org/officeDocument/2006/relationships/image" Target="/ppt/media/image4.png" Id="R46b121ce3b5843f1" /><Relationship Type="http://schemas.openxmlformats.org/officeDocument/2006/relationships/notesSlide" Target="/ppt/notesSlides/notesSlide4.xml" Id="Rfdb5fa368dff4c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3f3215d3347ed" /><Relationship Type="http://schemas.openxmlformats.org/officeDocument/2006/relationships/image" Target="/ppt/media/image5.png" Id="Re5083d3423bc455d" /><Relationship Type="http://schemas.openxmlformats.org/officeDocument/2006/relationships/image" Target="/ppt/media/image6.png" Id="R3854f7a14ed44ba4" /><Relationship Type="http://schemas.openxmlformats.org/officeDocument/2006/relationships/notesSlide" Target="/ppt/notesSlides/notesSlide5.xml" Id="R8ee083f4fd86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d497ebb87f4e51" /><Relationship Type="http://schemas.openxmlformats.org/officeDocument/2006/relationships/image" Target="/ppt/media/image7.png" Id="R674fa41a466a4147" /><Relationship Type="http://schemas.openxmlformats.org/officeDocument/2006/relationships/notesSlide" Target="/ppt/notesSlides/notesSlide6.xml" Id="Rc23335debc7c45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daca548254dfe" /><Relationship Type="http://schemas.openxmlformats.org/officeDocument/2006/relationships/notesSlide" Target="/ppt/notesSlides/notesSlide7.xml" Id="Rf675819d19314b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c9da4d0be4ccd" /><Relationship Type="http://schemas.openxmlformats.org/officeDocument/2006/relationships/notesSlide" Target="/ppt/notesSlides/notesSlide8.xml" Id="R6b6c3a172b5648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416aba6e414245" /><Relationship Type="http://schemas.openxmlformats.org/officeDocument/2006/relationships/notesSlide" Target="/ppt/notesSlides/notesSlide9.xml" Id="Rdb50629b084c4b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39CA074-9B7C-41EB-8EA8-5A1E7454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pill">
            <a:extLst xmlns:a="http://schemas.openxmlformats.org/drawingml/2006/main">
              <a:ext uri="{FF2B5EF4-FFF2-40B4-BE49-F238E27FC236}">
                <a16:creationId xmlns:a16="http://schemas.microsoft.com/office/drawing/2014/main" id="{45CB9BDC-2B17-4407-9609-91EDEC3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85632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DFCB"/>
          </a:solidFill>
          <a:ln xmlns:a="http://schemas.openxmlformats.org/drawingml/2006/main" w="9525">
            <a:solidFill>
              <a:srgbClr val="EADFC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C2D2F-33B7-4CD4-AAFC-61FE1FF2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150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АКТАУ / МАНГИСТАУ</a:t>
            </a:r>
          </a:p>
        </p:txBody>
      </p:sp>
      <p:sp>
        <p:nvSpPr>
          <p:cNvPr id="4" name="pill">
            <a:extLst xmlns:a="http://schemas.openxmlformats.org/drawingml/2006/main">
              <a:ext uri="{FF2B5EF4-FFF2-40B4-BE49-F238E27FC236}">
                <a16:creationId xmlns:a16="http://schemas.microsoft.com/office/drawing/2014/main" id="{1B92F074-434C-47EB-8DE7-6126373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27" y="2857500"/>
            <a:ext cx="2197703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4F1"/>
          </a:solidFill>
          <a:ln xmlns:a="http://schemas.openxmlformats.org/drawingml/2006/main" w="9525">
            <a:solidFill>
              <a:srgbClr val="D7F4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1BE9C-E4D0-476A-A7FD-3A37660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33700"/>
            <a:ext cx="1847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D68"/>
                </a:solidFill>
              </a:defRPr>
            </a:pPr>
            <a:r>
              <a:rPr sz="1350" b="1">
                <a:solidFill>
                  <a:srgbClr val="075D68"/>
                </a:solidFill>
              </a:rPr>
              <a:t>AI + CONVEX + TELEGRAM</a:t>
            </a:r>
          </a:p>
        </p:txBody>
      </p:sp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13D0675-1B37-48A4-83BB-4372E6C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76009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111827"/>
                </a:solidFill>
              </a:defRPr>
            </a:pPr>
            <a:r>
              <a:rPr sz="8400" b="1">
                <a:solidFill>
                  <a:srgbClr val="111827"/>
                </a:solidFill>
              </a:rPr>
              <a:t>JumysAI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8294FBE-9D54-40AA-AF60-FDE66A7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8008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11827"/>
                </a:solidFill>
              </a:defRPr>
            </a:pPr>
            <a:r>
              <a:rPr sz="3825" b="1">
                <a:solidFill>
                  <a:srgbClr val="111827"/>
                </a:solidFill>
              </a:rPr>
              <a:t>городской слой найма, который понимает людей обычными словами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E83D8-A9A5-456A-BC25-DC7A8D60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86550"/>
            <a:ext cx="6362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B6472"/>
                </a:solidFill>
              </a:defRPr>
            </a:pPr>
            <a:r>
              <a:rPr sz="1950" b="0">
                <a:solidFill>
                  <a:srgbClr val="5B6472"/>
                </a:solidFill>
              </a:rPr>
              <a:t>Проект превращает локальный поиск работы в объяснимый диалог: от вакансии рядом до отклика, интервью и уведомления в Telegram.</a:t>
            </a:r>
          </a:p>
        </p:txBody>
      </p:sp>
      <p:sp>
        <p:nvSpPr>
          <p:cNvPr id="9" name="cover-screenshot-mask">
            <a:extLst xmlns:a="http://schemas.openxmlformats.org/drawingml/2006/main">
              <a:ext uri="{FF2B5EF4-FFF2-40B4-BE49-F238E27FC236}">
                <a16:creationId xmlns:a16="http://schemas.microsoft.com/office/drawing/2014/main" id="{E4692163-2E41-4F34-B5B7-4DD7708A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23900"/>
            <a:ext cx="8401050" cy="8839200"/>
          </a:xfrm>
          <a:prstGeom xmlns:a="http://schemas.openxmlformats.org/drawingml/2006/main" prst="roundRect">
            <a:avLst>
              <a:gd name="adj" fmla="val 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0" name="home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43b52eae5495f"/>
          <a:srcRect xmlns:a="http://schemas.openxmlformats.org/drawingml/2006/main" l="0" t="29527" r="0" b="29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723900"/>
            <a:ext cx="8401050" cy="883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5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0908FCD-774E-4D0B-9B14-C1A9DB67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917A4BA-6D5E-44BA-BC90-B22E5F8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760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8D9A"/>
                </a:solidFill>
              </a:defRPr>
            </a:pPr>
            <a:r>
              <a:rPr sz="1425" b="1">
                <a:solidFill>
                  <a:srgbClr val="0B8D9A"/>
                </a:solidFill>
              </a:rPr>
              <a:t>ПРОБЛЕМА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4D4F3-A922-4545-AAA1-E45D195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760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Люди ищут не “вакансию”.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B29A00-2F10-49F7-B5D7-2A3EBDB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760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85D4A"/>
                </a:solidFill>
              </a:defRPr>
            </a:pPr>
            <a:r>
              <a:rPr sz="4350" b="1">
                <a:solidFill>
                  <a:srgbClr val="E85D4A"/>
                </a:solidFill>
              </a:rPr>
              <a:t>Они ищут нормальный день.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646C-E0DF-4255-A034-8E8C617E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58864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Где рядом. Где понятная смена. Где не страшно откликнуться. JumysAI превращает этот бытовой контекст в понятный маршрут.</a:t>
            </a:r>
          </a:p>
        </p:txBody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1383092C-60EF-48BD-AFBA-7D19DE16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15088"/>
            <a:ext cx="800672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4F1"/>
          </a:solidFill>
          <a:ln xmlns:a="http://schemas.openxmlformats.org/drawingml/2006/main" w="9525">
            <a:solidFill>
              <a:srgbClr val="D7F4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EB915-7B4C-4023-B866-41EAAF2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960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D68"/>
                </a:solidFill>
              </a:defRPr>
            </a:pPr>
            <a:r>
              <a:rPr sz="1350" b="1">
                <a:solidFill>
                  <a:srgbClr val="075D68"/>
                </a:solidFill>
              </a:rPr>
              <a:t>район</a:t>
            </a:r>
          </a:p>
        </p:txBody>
      </p:sp>
      <p:sp>
        <p:nvSpPr>
          <p:cNvPr id="8" name="pill">
            <a:extLst xmlns:a="http://schemas.openxmlformats.org/drawingml/2006/main">
              <a:ext uri="{FF2B5EF4-FFF2-40B4-BE49-F238E27FC236}">
                <a16:creationId xmlns:a16="http://schemas.microsoft.com/office/drawing/2014/main" id="{4FE0E1D3-73CD-4824-8501-9D199C5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172" y="6415088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D05D-10CF-4862-9338-1F79281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496050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график</a:t>
            </a:r>
          </a:p>
        </p:txBody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55486B7B-092B-4596-B843-BD28B680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772" y="6415088"/>
            <a:ext cx="978027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6E9"/>
          </a:solidFill>
          <a:ln xmlns:a="http://schemas.openxmlformats.org/drawingml/2006/main" w="9525">
            <a:solidFill>
              <a:srgbClr val="DFF6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F3B46-D014-4054-AA47-148F5D52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4960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9E6D"/>
                </a:solidFill>
              </a:defRPr>
            </a:pPr>
            <a:r>
              <a:rPr sz="1350" b="1">
                <a:solidFill>
                  <a:srgbClr val="2F9E6D"/>
                </a:solidFill>
              </a:rPr>
              <a:t>доверие</a:t>
            </a:r>
          </a:p>
        </p:txBody>
      </p:sp>
      <p:sp>
        <p:nvSpPr>
          <p:cNvPr id="12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25C72B48-F3AB-4572-B85B-8D9A5EE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524000"/>
            <a:ext cx="3143250" cy="723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f4857e08b458b"/>
          <a:srcRect xmlns:a="http://schemas.openxmlformats.org/drawingml/2006/main" l="3016" t="0" r="3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1725" y="1524000"/>
            <a:ext cx="3143250" cy="7239000"/>
          </a:xfrm>
          <a:prstGeom xmlns:a="http://schemas.openxmlformats.org/drawingml/2006/main" prst="rect">
            <a:avLst/>
          </a:prstGeom>
        </p:spPr>
      </p:pic>
      <p:sp>
        <p:nvSpPr>
          <p:cNvPr id="1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25F85598-2EF1-442D-822E-353E5AD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1524000"/>
            <a:ext cx="3143250" cy="723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10a8c989d441b"/>
          <a:srcRect xmlns:a="http://schemas.openxmlformats.org/drawingml/2006/main" l="3016" t="0" r="3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3575" y="1524000"/>
            <a:ext cx="3143250" cy="723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23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CD9FCD3-2856-4336-9A3C-8502B1AF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A"/>
          </a:solidFill>
          <a:ln xmlns:a="http://schemas.openxmlformats.org/drawingml/2006/main" w="0">
            <a:solidFill>
              <a:srgbClr val="F2FBF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756D0B1-B13D-4427-9882-F267D25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807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8D9A"/>
                </a:solidFill>
              </a:defRPr>
            </a:pPr>
            <a:r>
              <a:rPr sz="1425" b="1">
                <a:solidFill>
                  <a:srgbClr val="0B8D9A"/>
                </a:solidFill>
              </a:rPr>
              <a:t>МАГИЯ ПРОДУКТА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53AA-6E63-4167-AACF-8FF2C479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80772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75D68"/>
                </a:solidFill>
              </a:defRPr>
            </a:pPr>
            <a:r>
              <a:rPr sz="4800" b="1">
                <a:solidFill>
                  <a:srgbClr val="075D68"/>
                </a:solidFill>
              </a:rPr>
              <a:t>Пользователь пишет как человек. Система отвечает как сервис.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45B60-1019-4C01-8B6F-7B8072AD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8077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Это выглядит просто: фраза, подсказка, подходящие варианты, отклик. Но именно эта простота и производит впечатление на нетехническую аудиторию.</a:t>
            </a:r>
          </a:p>
        </p:txBody>
      </p:sp>
      <p:sp>
        <p:nvSpPr>
          <p:cNvPr id="5" name="mark">
            <a:extLst xmlns:a="http://schemas.openxmlformats.org/drawingml/2006/main">
              <a:ext uri="{FF2B5EF4-FFF2-40B4-BE49-F238E27FC236}">
                <a16:creationId xmlns:a16="http://schemas.microsoft.com/office/drawing/2014/main" id="{C748B47C-D95A-4EB9-82A4-CEF61076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396" y="354806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D9A"/>
          </a:solidFill>
          <a:ln xmlns:a="http://schemas.openxmlformats.org/drawingml/2006/main" w="9525">
            <a:solidFill>
              <a:srgbClr val="0B8D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49818-DCBF-450F-A3EF-7EC4F0AA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E81D5-7584-4F26-B1CE-6A3CDE0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4330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Фраза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C30FA-E995-4CA7-8ADE-80F2D187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86200"/>
            <a:ext cx="704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“Хочу рядом, вечером, без опыта, с понятной оплатой.”</a:t>
            </a:r>
          </a:p>
        </p:txBody>
      </p:sp>
      <p:sp>
        <p:nvSpPr>
          <p:cNvPr id="9" name="mark">
            <a:extLst xmlns:a="http://schemas.openxmlformats.org/drawingml/2006/main">
              <a:ext uri="{FF2B5EF4-FFF2-40B4-BE49-F238E27FC236}">
                <a16:creationId xmlns:a16="http://schemas.microsoft.com/office/drawing/2014/main" id="{2B6E9F67-8010-44F1-A570-BDE3E06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396" y="432911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4A"/>
          </a:solidFill>
          <a:ln xmlns:a="http://schemas.openxmlformats.org/drawingml/2006/main" w="9525">
            <a:solidFill>
              <a:srgbClr val="F0B8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0659E-0689-47D1-A2E8-008B161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958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F257A-9792-46F7-948E-A777F0E9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2435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Критерии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F7A3F-2B1B-49C0-841C-CCEEC93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67250"/>
            <a:ext cx="704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район, график, опыт, зарплата, источник вакансии</a:t>
            </a:r>
          </a:p>
        </p:txBody>
      </p:sp>
      <p:sp>
        <p:nvSpPr>
          <p:cNvPr id="13" name="mark">
            <a:extLst xmlns:a="http://schemas.openxmlformats.org/drawingml/2006/main">
              <a:ext uri="{FF2B5EF4-FFF2-40B4-BE49-F238E27FC236}">
                <a16:creationId xmlns:a16="http://schemas.microsoft.com/office/drawing/2014/main" id="{7206D2D6-E50B-4C2F-8212-D62486D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396" y="511016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FB"/>
          </a:solidFill>
          <a:ln xmlns:a="http://schemas.openxmlformats.org/drawingml/2006/main" w="9525">
            <a:solidFill>
              <a:srgbClr val="6D5D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6A8DE-A3EA-48B9-9298-CF2BF08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7685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242D9-30C9-4DD4-8994-2A92B9D1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0540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Совпадения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2E875-18B6-4B83-BB07-A5BEFF26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48300"/>
            <a:ext cx="704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векторный поиск + бизнес-правила Convex</a:t>
            </a:r>
          </a:p>
        </p:txBody>
      </p:sp>
      <p:sp>
        <p:nvSpPr>
          <p:cNvPr id="17" name="mark">
            <a:extLst xmlns:a="http://schemas.openxmlformats.org/drawingml/2006/main">
              <a:ext uri="{FF2B5EF4-FFF2-40B4-BE49-F238E27FC236}">
                <a16:creationId xmlns:a16="http://schemas.microsoft.com/office/drawing/2014/main" id="{0743CC43-9BD8-42A7-BEE0-A77074D4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396" y="589121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6D"/>
          </a:solidFill>
          <a:ln xmlns:a="http://schemas.openxmlformats.org/drawingml/2006/main" w="9525">
            <a:solidFill>
              <a:srgbClr val="2F9E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0E782-BD4F-4201-ACB2-CF865B5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57900"/>
            <a:ext cx="11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A3436-D715-4416-BB88-9C7F4064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8645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Действие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9D9D7-6384-4669-9F96-864E6507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29350"/>
            <a:ext cx="704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отклик на native, внешний переход на HH, статус и Telegram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3580EAD2-55F2-422A-9392-36C07E7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756B"/>
                </a:solidFill>
              </a:defRPr>
            </a:pPr>
            <a:r>
              <a:rPr sz="975" b="0">
                <a:solidFill>
                  <a:srgbClr val="7A756B"/>
                </a:solidFill>
              </a:rPr>
              <a:t>AI в JumysAI помогает искать и объяснять, но не принимает решение вместо работодателя.</a:t>
            </a:r>
          </a:p>
        </p:txBody>
      </p:sp>
    </p:spTree>
    <p:extLst>
      <p:ext uri="{BB962C8B-B14F-4D97-AF65-F5344CB8AC3E}">
        <p14:creationId xmlns:p14="http://schemas.microsoft.com/office/powerpoint/2010/main" val="1362975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068C6B1-1C54-4DDF-98DF-9B0405F2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39C8E38-AC1E-435A-B3BD-44769DE1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6648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8D9A"/>
                </a:solidFill>
              </a:defRPr>
            </a:pPr>
            <a:r>
              <a:rPr sz="1425" b="1">
                <a:solidFill>
                  <a:srgbClr val="0B8D9A"/>
                </a:solidFill>
              </a:rPr>
              <a:t>ЖИВОЙ ПРОДУКТ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52D094-0783-4D52-9E14-E75899BD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66484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Каталог уже выглядит как рабочий инструмент, а не макет.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9BBC9-B4F0-41A2-8A4E-DCB86920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66484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Публичный пользователь видит вакансии сразу. В таблице уже есть локации, зарплаты, источник и ориентировочное совпадение.</a:t>
            </a:r>
          </a:p>
        </p:txBody>
      </p:sp>
      <p:sp>
        <p:nvSpPr>
          <p:cNvPr id="5" name="pill">
            <a:extLst xmlns:a="http://schemas.openxmlformats.org/drawingml/2006/main">
              <a:ext uri="{FF2B5EF4-FFF2-40B4-BE49-F238E27FC236}">
                <a16:creationId xmlns:a16="http://schemas.microsoft.com/office/drawing/2014/main" id="{D239B90A-EE80-428C-A62D-DD468BA0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511742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1E7D7-5F9E-4DDD-AEDE-A37DA336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913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50 вакансий в демо-выборке</a:t>
            </a:r>
          </a:p>
        </p:txBody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1F2C682E-75AC-4E47-87C6-2B1E85F6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092" y="6591300"/>
            <a:ext cx="1515142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4F1"/>
          </a:solidFill>
          <a:ln xmlns:a="http://schemas.openxmlformats.org/drawingml/2006/main" w="9525">
            <a:solidFill>
              <a:srgbClr val="D7F4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425F-CBE9-4358-8F32-06601E28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667500"/>
            <a:ext cx="118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D68"/>
                </a:solidFill>
              </a:defRPr>
            </a:pPr>
            <a:r>
              <a:rPr sz="1350" b="1">
                <a:solidFill>
                  <a:srgbClr val="075D68"/>
                </a:solidFill>
              </a:rPr>
              <a:t>Актау и районы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C68E2-9689-421A-8CAD-CC762DF6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135" y="647700"/>
            <a:ext cx="9564815" cy="72390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0" name="vacancies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121ce3b5843f1"/>
          <a:srcRect xmlns:a="http://schemas.openxmlformats.org/drawingml/2006/main" l="0" t="14846" r="0" b="14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2135" y="647700"/>
            <a:ext cx="9564815" cy="723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37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7EB6F46-195F-4381-8CA4-767825F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0">
            <a:solidFill>
              <a:srgbClr val="12182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5A57B43-C131-4149-93BB-A6506F7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6934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84A"/>
                </a:solidFill>
              </a:defRPr>
            </a:pPr>
            <a:r>
              <a:rPr sz="1425" b="1">
                <a:solidFill>
                  <a:srgbClr val="F0B84A"/>
                </a:solidFill>
              </a:rPr>
              <a:t>ЧТО ВИДИТ СОИСКАТЕЛЬ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19BD27-5CEE-4253-ADBB-165C1658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6934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Это не анкета. Это спокойный путь к отклику.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A0865-EF02-463B-8769-7AD91FAE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69342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8DEE9"/>
                </a:solidFill>
              </a:defRPr>
            </a:pPr>
            <a:r>
              <a:rPr sz="2025" b="0">
                <a:solidFill>
                  <a:srgbClr val="D8DEE9"/>
                </a:solidFill>
              </a:rPr>
              <a:t>Сначала человек просто смотрит. Потом уточняет запрос с AI. Потом видит понятные карточки и кнопку действия. Интерфейс не давит, а ведет.</a:t>
            </a:r>
          </a:p>
        </p:txBody>
      </p:sp>
      <p:sp>
        <p:nvSpPr>
          <p:cNvPr id="5" name="pill">
            <a:extLst xmlns:a="http://schemas.openxmlformats.org/drawingml/2006/main">
              <a:ext uri="{FF2B5EF4-FFF2-40B4-BE49-F238E27FC236}">
                <a16:creationId xmlns:a16="http://schemas.microsoft.com/office/drawing/2014/main" id="{430CF60B-F463-4700-A4C4-F369A19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2348103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044"/>
          </a:solidFill>
          <a:ln xmlns:a="http://schemas.openxmlformats.org/drawingml/2006/main" w="9525">
            <a:solidFill>
              <a:srgbClr val="2430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0937-1ED4-40B8-BFBD-F636EC93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198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без входа можно смотреть</a:t>
            </a:r>
          </a:p>
        </p:txBody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65FDD530-D5C7-4D32-AE84-E8798BA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503" y="6267450"/>
            <a:ext cx="129921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D9A"/>
          </a:solidFill>
          <a:ln xmlns:a="http://schemas.openxmlformats.org/drawingml/2006/main" w="9525">
            <a:solidFill>
              <a:srgbClr val="0B8D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484B0-539D-4486-8FE3-5003FCFD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43650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объясняет</a:t>
            </a:r>
          </a:p>
        </p:txBody>
      </p:sp>
      <p:sp>
        <p:nvSpPr>
          <p:cNvPr id="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5014958-EA70-446A-840A-0F450333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250" y="1524000"/>
            <a:ext cx="3143250" cy="723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0" name="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83d3423bc455d"/>
          <a:srcRect xmlns:a="http://schemas.openxmlformats.org/drawingml/2006/main" l="3016" t="0" r="3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2250" y="1524000"/>
            <a:ext cx="3143250" cy="7239000"/>
          </a:xfrm>
          <a:prstGeom xmlns:a="http://schemas.openxmlformats.org/drawingml/2006/main" prst="rect">
            <a:avLst/>
          </a:prstGeom>
        </p:spPr>
      </p:pic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B283409-8172-4C79-BB78-9122770D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3150" y="1524000"/>
            <a:ext cx="3143250" cy="723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2" name="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4f7a14ed44ba4"/>
          <a:srcRect xmlns:a="http://schemas.openxmlformats.org/drawingml/2006/main" l="3016" t="0" r="3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13150" y="1524000"/>
            <a:ext cx="3143250" cy="723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28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B31E011-4C60-4AAC-AD68-3390CFD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FBD4A68-0B8E-4B8A-A0DC-563128C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6934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ЧТО ВИДИТ РАБОТОДАТЕЛЬ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A4CD24-E112-44D6-81BC-C4B090A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69342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Вакансия выглядит аккуратно, а решение остается человеческим.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6B2A-6D98-4FD2-95D3-18CBABA8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6934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На карточке сразу видно главное: источник, статус, зарплата, локация, действие и честная пометка, что AI-подсказка вспомогательная.</a:t>
            </a:r>
          </a:p>
        </p:txBody>
      </p:sp>
      <p:sp>
        <p:nvSpPr>
          <p:cNvPr id="5" name="pill">
            <a:extLst xmlns:a="http://schemas.openxmlformats.org/drawingml/2006/main">
              <a:ext uri="{FF2B5EF4-FFF2-40B4-BE49-F238E27FC236}">
                <a16:creationId xmlns:a16="http://schemas.microsoft.com/office/drawing/2014/main" id="{5F3CDF53-44B4-4539-A3EB-0229ED4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34150"/>
            <a:ext cx="1742408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343C-4E5D-4940-A4C6-641D50D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понятная карточка</a:t>
            </a:r>
          </a:p>
        </p:txBody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81BB09BA-6C0E-4FE4-B628-1F97E75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808" y="6534150"/>
            <a:ext cx="202692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4F1"/>
          </a:solidFill>
          <a:ln xmlns:a="http://schemas.openxmlformats.org/drawingml/2006/main" w="9525">
            <a:solidFill>
              <a:srgbClr val="D7F4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FB133-7083-4649-BB05-F7909CB7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610350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D68"/>
                </a:solidFill>
              </a:defRPr>
            </a:pPr>
            <a:r>
              <a:rPr sz="1350" b="1">
                <a:solidFill>
                  <a:srgbClr val="075D68"/>
                </a:solidFill>
              </a:rPr>
              <a:t>AI не решает за людей</a:t>
            </a:r>
          </a:p>
        </p:txBody>
      </p:sp>
      <p:sp>
        <p:nvSpPr>
          <p:cNvPr id="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1344D65-5B88-47F6-9C73-78B81D7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751" y="628650"/>
            <a:ext cx="9197150" cy="723900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0" name="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fa41a466a4147"/>
          <a:stretch xmlns:a="http://schemas.openxmlformats.org/drawingml/2006/main"/>
        </p:blipFill>
        <p:spPr>
          <a:xfrm xmlns:a="http://schemas.openxmlformats.org/drawingml/2006/main">
            <a:off x="8290751" y="1054695"/>
            <a:ext cx="9197150" cy="63869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47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3180742-EA57-48EE-B856-4EE26F7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F8DCA93-C2C5-4D1B-BC3A-E048BD1F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8D9A"/>
                </a:solidFill>
              </a:defRPr>
            </a:pPr>
            <a:r>
              <a:rPr sz="1425" b="1">
                <a:solidFill>
                  <a:srgbClr val="0B8D9A"/>
                </a:solidFill>
              </a:rPr>
              <a:t>АРХИТЕКТУРА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C7921F-A3B8-4A9F-873E-49C5F9E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499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Под красивым интерфейсом уже есть серьезная логика продукта.</a:t>
            </a:r>
          </a:p>
        </p:txBody>
      </p:sp>
      <p:sp>
        <p:nvSpPr>
          <p:cNvPr id="4" name="pill">
            <a:extLst xmlns:a="http://schemas.openxmlformats.org/drawingml/2006/main">
              <a:ext uri="{FF2B5EF4-FFF2-40B4-BE49-F238E27FC236}">
                <a16:creationId xmlns:a16="http://schemas.microsoft.com/office/drawing/2014/main" id="{14CCFA66-E621-459D-9F3A-031642D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904" y="971550"/>
            <a:ext cx="1547146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4F1"/>
          </a:solidFill>
          <a:ln xmlns:a="http://schemas.openxmlformats.org/drawingml/2006/main" w="9525">
            <a:solidFill>
              <a:srgbClr val="D7F4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4D4AA-1A65-4D09-AA9F-1E5ACCC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0" y="1047750"/>
            <a:ext cx="120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D68"/>
                </a:solidFill>
              </a:defRPr>
            </a:pPr>
            <a:r>
              <a:rPr sz="1350" b="1">
                <a:solidFill>
                  <a:srgbClr val="075D68"/>
                </a:solidFill>
              </a:rPr>
              <a:t>не просто макет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F9D2D-FF17-470A-86B7-3D8B7BFE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489204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9BEC0-B321-4ACE-ADB3-BAC6642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Пользователи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28C93-A0A2-4C1C-8980-568952F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3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вход, роли, onboarding и разные сценарии для каждого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B3420-8491-4190-9D59-ACDF301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640" y="1552575"/>
            <a:ext cx="6522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8D9A"/>
          </a:solidFill>
          <a:ln xmlns:a="http://schemas.openxmlformats.org/drawingml/2006/main" w="9525">
            <a:solidFill>
              <a:srgbClr val="0B8D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6092E-DEA3-4180-A46D-B9B3E809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605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Живые вакансии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96A51-066E-4320-9F76-8BAB4D41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6057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FF7F8"/>
                </a:solidFill>
              </a:defRPr>
            </a:pPr>
            <a:r>
              <a:rPr sz="1275" b="0">
                <a:solidFill>
                  <a:srgbClr val="DFF7F8"/>
                </a:solidFill>
              </a:rPr>
              <a:t>каталог, карточка, поиск, район, зарплата и источник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A8303-B50B-4970-8649-FA69ACFC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010" y="1552575"/>
            <a:ext cx="489204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E7247-33B3-41E5-8E88-98BF3EF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19431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AI-помощник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6CA4A-3656-475B-A1CB-67BA50EE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266950"/>
            <a:ext cx="443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понимает запрос обычными словами и объясняет совпадения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E7546-1C34-4AE2-90E4-2B318CC8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9750"/>
            <a:ext cx="489204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90652-E284-481E-9065-C5BE43C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Работодатель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FD414-D38E-46B7-9979-AD34CA46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443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черновик вакансии, отклики, вопросы и интервью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ABE5E-20B2-4ECB-AEE7-CCD023C1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640" y="4349750"/>
            <a:ext cx="6522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567AE-CFDE-4E22-8BB2-2AEEAE5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24400"/>
            <a:ext cx="605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Правила найма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EF9D6-7CCA-4CB3-97B9-8A8339F0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6057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FF7F8"/>
                </a:solidFill>
              </a:defRPr>
            </a:pPr>
            <a:r>
              <a:rPr sz="1275" b="0">
                <a:solidFill>
                  <a:srgbClr val="DFF7F8"/>
                </a:solidFill>
              </a:rPr>
              <a:t>кто может редактировать, где можно откликнуться, какие статусы допустимы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1B1EE-4F7A-4896-A2A9-12DEF9A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010" y="4349750"/>
            <a:ext cx="489204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3BD58-4A72-4E35-AA30-5B3D082E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7244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HH.kz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5BEA2-F1C2-4DAC-AA66-9CE7525E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048250"/>
            <a:ext cx="443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вакансии для поиска, но отклик только по внешней ссылке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55DA2-43D6-4AE5-B2B0-4F848D1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6925"/>
            <a:ext cx="489204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9EC9C-3D7D-4D09-9D16-3D869674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44855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Telegram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0A7F8F-40D0-410C-B82B-E2AF51E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72400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статусы и уведомления приходят туда, где человек уже отвечает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0E80D-2318-4915-8FC6-53BCA9BF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640" y="7146925"/>
            <a:ext cx="652272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F9E6D"/>
          </a:solidFill>
          <a:ln xmlns:a="http://schemas.openxmlformats.org/drawingml/2006/main" w="9525">
            <a:solidFill>
              <a:srgbClr val="2F9E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C3A98-B759-43E4-BB24-BA9D94D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524750"/>
            <a:ext cx="605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Надежность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D5AE0-C2F1-4113-B501-E757C263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848600"/>
            <a:ext cx="6057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FF7F8"/>
                </a:solidFill>
              </a:defRPr>
            </a:pPr>
            <a:r>
              <a:rPr sz="1275" b="0">
                <a:solidFill>
                  <a:srgbClr val="DFF7F8"/>
                </a:solidFill>
              </a:rPr>
              <a:t>события не теряются, повторные уведомления не спамят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D52C6E-9810-4D17-9848-425D02E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010" y="7146925"/>
            <a:ext cx="489204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CF590-D1B3-4C62-A9DC-7051CB8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52475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Админка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AC43B-2C83-44CA-8CAD-2160F8B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848600"/>
            <a:ext cx="443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операционная поддержка и обзор ключевых сущностей</a:t>
            </a:r>
          </a:p>
        </p:txBody>
      </p:sp>
    </p:spTree>
    <p:extLst>
      <p:ext uri="{BB962C8B-B14F-4D97-AF65-F5344CB8AC3E}">
        <p14:creationId xmlns:p14="http://schemas.microsoft.com/office/powerpoint/2010/main" val="228805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49071A9-F63C-4C84-9C4B-D444478A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B"/>
          </a:solidFill>
          <a:ln xmlns:a="http://schemas.openxmlformats.org/drawingml/2006/main" w="0">
            <a:solidFill>
              <a:srgbClr val="F6F7F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FFAAEFB-7399-474F-B725-50B0291E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807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8D9A"/>
                </a:solidFill>
              </a:defRPr>
            </a:pPr>
            <a:r>
              <a:rPr sz="1425" b="1">
                <a:solidFill>
                  <a:srgbClr val="0B8D9A"/>
                </a:solidFill>
              </a:rPr>
              <a:t>ДОВЕРИЕ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BCFDF1-89C0-4951-A3C9-E89C5A19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80772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Самое интересное: система умная, но с тормозами.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AB6CC-B695-4515-BD0D-2A5FDA4E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8077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827"/>
                </a:solidFill>
              </a:defRPr>
            </a:pPr>
            <a:r>
              <a:rPr sz="2175" b="0">
                <a:solidFill>
                  <a:srgbClr val="111827"/>
                </a:solidFill>
              </a:rPr>
              <a:t>JumysAI не пытается заменить рынок труда автопилотом. Он делает путь видимым, а критические решения оставляет людям и backend-правилам.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3C28-64B4-494C-8278-C845275D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2571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6D5DFB"/>
                </a:solidFill>
              </a:defRPr>
            </a:pPr>
            <a:r>
              <a:rPr sz="4350" b="1">
                <a:solidFill>
                  <a:srgbClr val="6D5DFB"/>
                </a:solidFill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CBC82-FFC5-420C-A6A6-5879A0E7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14750"/>
            <a:ext cx="502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только подсказка для скрининга и сопоставления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4316F-B5FD-47E1-8508-ABF89EF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24350"/>
            <a:ext cx="2571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9E6D"/>
                </a:solidFill>
              </a:defRPr>
            </a:pPr>
            <a:r>
              <a:rPr sz="4350" b="1">
                <a:solidFill>
                  <a:srgbClr val="2F9E6D"/>
                </a:solidFill>
              </a:rPr>
              <a:t>JumysAI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C9715-0816-422B-949E-DD57C7F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495800"/>
            <a:ext cx="502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можно откликнуться внутри продукта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2AA3C-DAAC-4CC2-AAB8-ABA3B1A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05400"/>
            <a:ext cx="2571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85D4A"/>
                </a:solidFill>
              </a:defRPr>
            </a:pPr>
            <a:r>
              <a:rPr sz="4350" b="1">
                <a:solidFill>
                  <a:srgbClr val="E85D4A"/>
                </a:solidFill>
              </a:rPr>
              <a:t>HH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93197-6739-4B52-80C1-F02EAEB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276850"/>
            <a:ext cx="502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только поиск и внешний URL для отклика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BA761-4DD5-4B19-AD2A-D2453FEF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86450"/>
            <a:ext cx="2571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B8D9A"/>
                </a:solidFill>
              </a:defRPr>
            </a:pPr>
            <a:r>
              <a:rPr sz="4350" b="1">
                <a:solidFill>
                  <a:srgbClr val="0B8D9A"/>
                </a:solidFill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6E67B-0482-402F-A161-9AE3A6E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057900"/>
            <a:ext cx="502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роль, владелец и статус проверяются в Convex</a:t>
            </a:r>
          </a:p>
        </p:txBody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3A584EC3-4091-4CC1-9E6A-A12EAE0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A756B"/>
                </a:solidFill>
              </a:defRPr>
            </a:pPr>
            <a:r>
              <a:rPr sz="975" b="0">
                <a:solidFill>
                  <a:srgbClr val="7A756B"/>
                </a:solidFill>
              </a:rPr>
              <a:t>Правила взяты из PROJECT_SCOPE.md, docs/jumysai-technical-scope.md и Convex modules.</a:t>
            </a:r>
          </a:p>
        </p:txBody>
      </p:sp>
    </p:spTree>
    <p:extLst>
      <p:ext uri="{BB962C8B-B14F-4D97-AF65-F5344CB8AC3E}">
        <p14:creationId xmlns:p14="http://schemas.microsoft.com/office/powerpoint/2010/main" val="388016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11EFC9A-B73A-49A5-A2CD-5CB463AE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0">
            <a:solidFill>
              <a:srgbClr val="121826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2A130C2-A63F-41EB-BA62-5F7EF77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885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B84A"/>
                </a:solidFill>
              </a:defRPr>
            </a:pPr>
            <a:r>
              <a:rPr sz="1425" b="1">
                <a:solidFill>
                  <a:srgbClr val="F0B84A"/>
                </a:solidFill>
              </a:rPr>
              <a:t>ПОЧЕМУ ЭТО ЗАПОМИНАЕТСЯ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92D296-9B74-41E0-B24A-D679E79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8858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JumysAI ощущается не как еще одна доска вакансий.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09B7C4-B12C-40B7-AE86-675BBF86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8858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0B84A"/>
                </a:solidFill>
              </a:defRPr>
            </a:pPr>
            <a:r>
              <a:rPr sz="4125" b="1">
                <a:solidFill>
                  <a:srgbClr val="F0B84A"/>
                </a:solidFill>
              </a:rPr>
              <a:t>Он ощущается как локальная инфраструктура найма.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96A6F-D838-438C-9E01-75099284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81750"/>
            <a:ext cx="7391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8EDF7"/>
                </a:solidFill>
              </a:defRPr>
            </a:pPr>
            <a:r>
              <a:rPr sz="2100" b="0">
                <a:solidFill>
                  <a:srgbClr val="E8EDF7"/>
                </a:solidFill>
              </a:rPr>
              <a:t>У проекта есть редкая комбинация: реальный город, реальные ограничения, AI-диалог, строгий backend, Telegram-канал и ясная граница между подсказкой и решением.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357BA-F72F-4F2F-93DA-066FABE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2371725"/>
            <a:ext cx="72437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0FB22-D838-4519-91D9-A5E9601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62250"/>
            <a:ext cx="678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Город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FCD66-B84F-4776-BF03-6037B73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86100"/>
            <a:ext cx="6781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Актау и Мангистау как конкретный рынок, а не абстрактная аудитория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3DEEF-FFC7-4D77-B02C-4266C8F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3800475"/>
            <a:ext cx="72437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7F4F1"/>
          </a:solidFill>
          <a:ln xmlns:a="http://schemas.openxmlformats.org/drawingml/2006/main" w="9525">
            <a:solidFill>
              <a:srgbClr val="D7F4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1EB19-49DF-4B47-ABD3-2F42C71B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91000"/>
            <a:ext cx="678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Контекст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C6FD4-0D9A-46D5-B583-73E9964B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14850"/>
            <a:ext cx="6781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район, график, опыт, зарплата и источник вакансии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18B88-6EBA-461C-8BD4-7A491B4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5229225"/>
            <a:ext cx="72437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2AD36-1344-4A21-A282-C531F527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678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Доказательство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D05AB-3740-4FF9-B3DA-6A787DBF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943600"/>
            <a:ext cx="6781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работающий web UI, Convex backend, bot HTTP contract, тесты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31451-4D7D-4154-A62A-0C44A5E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6657975"/>
            <a:ext cx="72437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F9E6D"/>
          </a:solidFill>
          <a:ln xmlns:a="http://schemas.openxmlformats.org/drawingml/2006/main" w="9525">
            <a:solidFill>
              <a:srgbClr val="2F9E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B7C21-FFA7-4904-B5C3-1D4FBFF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048500"/>
            <a:ext cx="678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Следующий шаг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7C1DE-C03A-40A9-9FD0-B8781938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72350"/>
            <a:ext cx="6781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FF7F8"/>
                </a:solidFill>
              </a:defRPr>
            </a:pPr>
            <a:r>
              <a:rPr sz="1275" b="0">
                <a:solidFill>
                  <a:srgbClr val="DFF7F8"/>
                </a:solidFill>
              </a:rPr>
              <a:t>демо: AI-поиск, native apply, employer review, Telegram status</a:t>
            </a:r>
          </a:p>
        </p:txBody>
      </p:sp>
    </p:spTree>
    <p:extLst>
      <p:ext uri="{BB962C8B-B14F-4D97-AF65-F5344CB8AC3E}">
        <p14:creationId xmlns:p14="http://schemas.microsoft.com/office/powerpoint/2010/main" val="1742947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2026-04-25T05:02:30.3920000Z</dcterms:created>
  <dcterms:modified xsi:type="dcterms:W3CDTF">2026-04-25T05:02:30.4050000Z</dcterms:modified>
</coreProperties>
</file>